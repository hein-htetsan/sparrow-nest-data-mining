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BEDAC6"/>
                </a:solidFill>
                <a:latin typeface="Aptos"/>
              </a:defRPr>
            </a:pPr>
            <a:r>
              <a:t>DATA MINING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987552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Cluster Characteristic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34640"/>
            <a:ext cx="8686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200" b="0">
                <a:solidFill>
                  <a:srgbClr val="DEEAE1"/>
                </a:solidFill>
                <a:latin typeface="Aptos"/>
              </a:defRPr>
            </a:pPr>
            <a:r>
              <a:t>Eurasian Tree Sparrow building and environmental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754880"/>
            <a:ext cx="38404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BEDAC6"/>
                </a:solidFill>
                <a:latin typeface="Aptos"/>
              </a:defRPr>
            </a:pPr>
            <a:r>
              <a:t>501 training records</a:t>
            </a:r>
            <a:br/>
            <a:r>
              <a:t>K-means k = 5</a:t>
            </a:r>
            <a:br/>
            <a:r>
              <a:t>Seven standardized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1F4A33"/>
                </a:solidFill>
                <a:latin typeface="Aptos"/>
              </a:defRPr>
            </a:pPr>
            <a:r>
              <a:t>CLUSTER ANALYSIS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000" b="1">
                <a:solidFill>
                  <a:srgbClr val="191E1A"/>
                </a:solidFill>
                <a:latin typeface="Aptos"/>
              </a:defRPr>
            </a:pPr>
            <a:r>
              <a:t>How the profiles were formed</a:t>
            </a:r>
          </a:p>
        </p:txBody>
      </p:sp>
      <p:pic>
        <p:nvPicPr>
          <p:cNvPr id="4" name="Picture 3" descr="cluster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6675120" cy="5006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627632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F4A33"/>
                </a:solidFill>
                <a:latin typeface="Aptos"/>
              </a:defRPr>
            </a:pPr>
            <a:r>
              <a:t>K-means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2103120"/>
            <a:ext cx="3749039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0">
                <a:solidFill>
                  <a:srgbClr val="191E1A"/>
                </a:solidFill>
                <a:latin typeface="Aptos"/>
              </a:defRPr>
            </a:pPr>
            <a:r>
              <a:t>Building height and width</a:t>
            </a:r>
            <a:br/>
            <a:r>
              <a:t>Altitude and average noise</a:t>
            </a:r>
            <a:br/>
            <a:r>
              <a:t>Temperature, precipitation and wind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36576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800" b="1">
                <a:solidFill>
                  <a:srgbClr val="1F4A33"/>
                </a:solidFill>
                <a:latin typeface="Aptos"/>
              </a:defRPr>
            </a:pPr>
            <a:r>
              <a:t>Why standardize?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133087"/>
            <a:ext cx="365760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0">
                <a:solidFill>
                  <a:srgbClr val="191E1A"/>
                </a:solidFill>
                <a:latin typeface="Aptos"/>
              </a:defRPr>
            </a:pPr>
            <a:r>
              <a:t>StandardScaler gives every feature equal influence despite different units.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5230368"/>
            <a:ext cx="36576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9A613E"/>
                </a:solidFill>
                <a:latin typeface="Aptos"/>
              </a:defRPr>
            </a:pPr>
            <a:r>
              <a:t>NestCount was excluded from K-means and compared after clustering.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1F4A33"/>
                </a:solidFill>
                <a:latin typeface="Aptos"/>
              </a:defRPr>
            </a:pPr>
            <a:r>
              <a:t>CLUSTER ANALYSIS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000" b="1">
                <a:solidFill>
                  <a:srgbClr val="191E1A"/>
                </a:solidFill>
                <a:latin typeface="Aptos"/>
              </a:defRPr>
            </a:pPr>
            <a:r>
              <a:t>Five building and environmental profiles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731520"/>
                <a:gridCol w="685800"/>
                <a:gridCol w="6309360"/>
                <a:gridCol w="109728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Cluster profile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Defining characteristics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nests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0  Moderate-altitude, noisy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125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25.0%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Lower buildings, moderate altitude, highest noise and above-average precipitation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5.31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  Warm, wet, low-altitude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76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15.2%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Lowest altitude, warmest and wettest conditions, relatively tall and narrow buildings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13.58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  High-altitude, dry, wide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31.1%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Lowest and widest buildings, high altitude, driest conditions and slightly higher wind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3.78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3  Highest-altitude, cool, low-wind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93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18.6%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Highest altitude, coolest temperature and lowest wind, relatively low buildings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2.86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4  Very tall buildings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51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10.2%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Tallest buildings by a large margin, otherwise moderate environmental conditions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5.65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605332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1F4A33"/>
                </a:solidFill>
                <a:latin typeface="Aptos"/>
              </a:defRPr>
            </a:pPr>
            <a:r>
              <a:t>Cluster 1 has the highest observed nest count. Cluster 3 has the lowest.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1F4A33"/>
                </a:solidFill>
                <a:latin typeface="Aptos"/>
              </a:defRPr>
            </a:pPr>
            <a:r>
              <a:t>CLUSTER ANALYSIS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000" b="1">
                <a:solidFill>
                  <a:srgbClr val="191E1A"/>
                </a:solidFill>
                <a:latin typeface="Aptos"/>
              </a:defRPr>
            </a:pPr>
            <a:r>
              <a:t>Original-scale cluster means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96926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960120"/>
                <a:gridCol w="960120"/>
                <a:gridCol w="1143000"/>
                <a:gridCol w="914400"/>
                <a:gridCol w="914400"/>
                <a:gridCol w="1051560"/>
                <a:gridCol w="914400"/>
              </a:tblGrid>
              <a:tr h="6934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Cluster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Height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Width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Altitude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Noise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Temp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Precip.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Wind</a:t>
                      </a:r>
                    </a:p>
                  </a:txBody>
                  <a:tcPr marL="64008" marR="64008" marT="45720" marB="45720" anchor="ctr">
                    <a:solidFill>
                      <a:srgbClr val="1F4A33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0  Moderate-altitude, noisy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22.97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48.82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789.88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54.72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16.80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58.55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2.57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  Warm, wet, low-altitude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44.48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41.88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53.92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52.59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20.03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68.17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2.43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  High-altitude, dry, wide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21.23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59.28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1269.50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49.27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15.75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28.98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2.65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3  Highest-altitude, cool, low-wind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24.51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48.62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1480.95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50.00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15.50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53.55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1.92</a:t>
                      </a:r>
                    </a:p>
                  </a:txBody>
                  <a:tcPr marL="64008" marR="64008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4  Very tall buildings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79.25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52.14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881.14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52.71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16.72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56.19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91E1A"/>
                          </a:solidFill>
                          <a:latin typeface="Aptos"/>
                        </a:defRPr>
                      </a:pPr>
                      <a:r>
                        <a:t>2.44</a:t>
                      </a:r>
                    </a:p>
                  </a:txBody>
                  <a:tcPr marL="64008" marR="64008" marT="45720" marB="45720" anchor="ctr">
                    <a:solidFill>
                      <a:srgbClr val="EEF4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5B635D"/>
                </a:solidFill>
                <a:latin typeface="Aptos"/>
              </a:defRPr>
            </a:pPr>
            <a:r>
              <a:t>These means describe the center of each cluster in the variables' original units.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1">
                <a:solidFill>
                  <a:srgbClr val="1F4A33"/>
                </a:solidFill>
                <a:latin typeface="Aptos"/>
              </a:defRPr>
            </a:pPr>
            <a:r>
              <a:t>CLUSTER ANALYSIS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000" b="1">
                <a:solidFill>
                  <a:srgbClr val="191E1A"/>
                </a:solidFill>
                <a:latin typeface="Aptos"/>
              </a:defRPr>
            </a:pPr>
            <a:r>
              <a:t>Interpretation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200" b="1">
                <a:solidFill>
                  <a:srgbClr val="1F4A33"/>
                </a:solidFill>
                <a:latin typeface="Aptos"/>
              </a:defRPr>
            </a:pPr>
            <a:r>
              <a:t>Strongest contrasts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3108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900" b="0">
                <a:solidFill>
                  <a:srgbClr val="191E1A"/>
                </a:solidFill>
                <a:latin typeface="Aptos"/>
              </a:defRPr>
            </a:pPr>
            <a:r>
              <a:t>Cluster 1 combines very low altitude with the warmest and wettest conditions.</a:t>
            </a:r>
            <a:br/>
            <a:br/>
            <a:r>
              <a:t>Cluster 3 combines the highest altitude with the coolest temperature and lowest wind.</a:t>
            </a:r>
            <a:br/>
            <a:br/>
            <a:r>
              <a:t>Cluster 4 separates mainly through very tall buildings.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3931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200" b="1">
                <a:solidFill>
                  <a:srgbClr val="1F4A33"/>
                </a:solidFill>
                <a:latin typeface="Aptos"/>
              </a:defRPr>
            </a:pPr>
            <a:r>
              <a:t>What the result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0280"/>
            <a:ext cx="4754880" cy="3108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900" b="0">
                <a:solidFill>
                  <a:srgbClr val="191E1A"/>
                </a:solidFill>
                <a:latin typeface="Aptos"/>
              </a:defRPr>
            </a:pPr>
            <a:r>
              <a:t>The profiles summarize similarity within the 501 training records. Nest differences are descriptive because NestCount did not form the clusters.</a:t>
            </a:r>
            <a:br/>
            <a:br/>
            <a:r>
              <a:t>Silhouette = 0.267 indicates overlap between groups. The clusters should not be presented as sharply separated natural classes or causal effects.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1">
                <a:solidFill>
                  <a:srgbClr val="9A613E"/>
                </a:solidFill>
                <a:latin typeface="Aptos"/>
              </a:defRPr>
            </a:pPr>
            <a:r>
              <a:t>Presentation answer: K-means provides interpretable environmental profiles, but the modest silhouette requires cautious interpretation.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